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6398bb441747a0" /><Relationship Type="http://schemas.openxmlformats.org/officeDocument/2006/relationships/extended-properties" Target="/docProps/app.xml" Id="R4ee0f36b977244db" /><Relationship Type="http://schemas.openxmlformats.org/officeDocument/2006/relationships/officeDocument" Target="/ppt/presentation.xml" Id="R3e31edc3113d43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cd45eee50a47c0"/>
  </p:sldMasterIdLst>
  <p:notesMasterIdLst>
    <p:notesMasterId xmlns:r="http://schemas.openxmlformats.org/officeDocument/2006/relationships" r:id="R50b818c1ecbb432b"/>
  </p:notesMasterIdLst>
  <p:sldIdLst>
    <p:sldId xmlns:r="http://schemas.openxmlformats.org/officeDocument/2006/relationships" id="256" r:id="R05ee8973a823477b"/>
  </p:sldIdLst>
  <p:sldSz cx="32399288" cy="43200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e77d77e6f04a28" /><Relationship Type="http://schemas.openxmlformats.org/officeDocument/2006/relationships/slideMaster" Target="/ppt/slideMasters/slideMaster1.xml" Id="R52cd45eee50a47c0" /><Relationship Type="http://schemas.openxmlformats.org/officeDocument/2006/relationships/notesMaster" Target="/ppt/notesMasters/notesMaster1.xml" Id="R50b818c1ecbb432b" /><Relationship Type="http://schemas.openxmlformats.org/officeDocument/2006/relationships/presProps" Target="/ppt/presProps.xml" Id="Rfe7aee61ec534c11" /><Relationship Type="http://schemas.openxmlformats.org/officeDocument/2006/relationships/viewProps" Target="/ppt/viewProps.xml" Id="R3ef71c8dcfc94925" /><Relationship Type="http://schemas.openxmlformats.org/officeDocument/2006/relationships/tableStyles" Target="/ppt/tableStyles.xml" Id="Rd68ae7567eab469c" /><Relationship Type="http://schemas.openxmlformats.org/officeDocument/2006/relationships/slide" Target="/ppt/slides/slide1.xml" Id="R05ee8973a82347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09b4a798734f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9ab4ec370f42cc" /><Relationship Type="http://schemas.openxmlformats.org/officeDocument/2006/relationships/notesMaster" Target="/ppt/notesMasters/notesMaster1.xml" Id="R59907a9d563749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Speech Hero poster. Template: 2026 DU engineering festival, 90×120 cm.</a:t>
            </a:r>
            <a:endParaRPr/>
          </a:p>
          <a:p xmlns:a="http://schemas.openxmlformats.org/drawingml/2006/main">
            <a:r>
              <a:t>Current implementation evidence: C:/Users/kor02/orca/s_project/docs/v2/SPEECH_THERAPY_AI_CLINICAL_RATIONALE.md; docs/audit/PRODUCT_REALITY_MATRIX.md; backend/app/therapist_planning/graph.py.</a:t>
            </a:r>
            <a:endParaRPr/>
          </a:p>
          <a:p xmlns:a="http://schemas.openxmlformats.org/drawingml/2006/main">
            <a:r>
              <a:t>Clinical reference: ASHA Speech Sound Disorders: Articulation and Phonology, https://www.asha.org/practice-portal/clinical-topics/articulation-and-phonology/ . The product is not clinically validated.</a:t>
            </a:r>
            <a:endParaRPr/>
          </a:p>
          <a:p xmlns:a="http://schemas.openxmlformats.org/drawingml/2006/main">
            <a:r>
              <a:t>Technology reference: LangGraph overview, https://docs.langchain.com/oss/python/langgraph/overview . The repository implements a six-stage linear graph for therapist planning; the LLM is optional and limited to summary text.</a:t>
            </a:r>
            <a:endParaRPr/>
          </a:p>
          <a:p xmlns:a="http://schemas.openxmlformats.org/drawingml/2006/main">
            <a:r>
              <a:t>The embedded screenshots are actual captures of the isolated local demo app with seed data on 2026-10-03. The game shows a front-reference procedural 3D Dudu and a visual monster. The side and back model, crafting, cross-device resume, and therapist-approved combat skill are integration targets, not claims of existing implementation. Some fallback/controller/backend dialogue still says Hoya, so this is a review draft rather than the submission master.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90db2b19f47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17d316e9141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d1ba32d844d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3aa413dea40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9b6ad8c0841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1ed38dbdd498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bbd5891704dc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259072a79426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694b9898b4ed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0a700d69c455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0e25b79894b0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fffcf492c404f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2F1348-E4FC-40E2-BE62-222E9F1C010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29947" y="7070108"/>
            <a:ext cx="27539395" cy="15040222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21259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C1B701F-9F74-40E6-8625-9BBEA2D9D8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49911" y="22690338"/>
            <a:ext cx="24299466" cy="10430151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 xmlns:a="http://schemas.openxmlformats.org/drawingml/2006/main">
            <a:r>
              <a:t>클릭하여 마스터 부제목 스타일 편집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C19048-0DF6-4A60-A928-5AA671C996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F721B9A-0C5C-4A61-9508-548925093B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1B5BC4-550B-4D34-B194-544690ACB0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D18382-81BB-41D3-93AA-56FBE9BDA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0703ED-7C8B-4E19-B01C-1ED19E7221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8EB8FD-CA63-4EBD-B937-8E0BEE1430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484A82-9B65-48DB-A4C9-BAA6B81C91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5132A1-C6B2-4D9D-929F-9157BDCC64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4C5DB1-74B4-4351-8B2F-11694B227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10578" y="10770172"/>
            <a:ext cx="27944386" cy="17970262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1259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2D7F0D-395E-456C-B3BC-A60505201B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10578" y="28910440"/>
            <a:ext cx="27944386" cy="945013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296D4A-71F6-4C7C-89B7-A5971BB667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70AFC5-2106-4F20-9ADA-1EF3C290CD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B74208-D98D-490E-91C2-A963006640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2DCFE5-5881-4CCA-977F-161B5E35BC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066A69-B41A-4345-8442-DE519D81FB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227451" y="11500170"/>
            <a:ext cx="13769697" cy="2741040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5D7F54-C132-4A0A-A687-284E56AEB07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02140" y="11500170"/>
            <a:ext cx="13769697" cy="2741040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892CB36-4ECF-45C9-B274-97385AB2B5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8973A64-E060-4C6A-B1C8-5A4011420B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CCCBA30-AC6A-4F7C-99BB-B94D5FA318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45527A-3832-4A2C-843D-B382E7221E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31671" y="2300044"/>
            <a:ext cx="27944386" cy="835012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DDFFE3-073F-4DE3-83B7-BB474CCBF0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31675" y="10590160"/>
            <a:ext cx="13706415" cy="519007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99814BC-8EA1-4932-BAA0-D6D59ACFAFC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31675" y="15780233"/>
            <a:ext cx="13706415" cy="232103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CA74D74-4A72-43F6-864C-95536B535F6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402142" y="10590160"/>
            <a:ext cx="13773917" cy="519007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36B9416-DC73-4D16-B9FA-32EA891F32E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402142" y="15780233"/>
            <a:ext cx="13773917" cy="232103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4E37D03-E0FC-4411-882C-958E5D7C8A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9/29/2026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6BE6E8E-6F24-48B1-BCCE-857CEE3319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6F9D8E9-4F94-498D-AC0C-31647ABED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44A70E-C1C7-408A-BFAE-CBB7399DB6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986A696-F6A8-4C42-874C-2BF3CE0A04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9/29/2026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612F00-5AE2-45A1-87D9-1A3CD4D937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209C8D0-B576-4B48-899A-70FBD19823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51CA6A1-A25D-4058-AA6F-787AACF43C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9/29/2026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EF54FF-B57C-4B1F-BC62-DDEE6086DF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6898B87-9EE9-4167-A609-EACA378233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1CC6C0-C719-45C3-AE6D-DDBF5A8179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31671" y="2880042"/>
            <a:ext cx="10449614" cy="10080149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1338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751365D-42F7-42F8-B734-B6C356DA5B3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773917" y="6220102"/>
            <a:ext cx="16402140" cy="3070045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338"/>
            </a:lvl1pPr>
            <a:lvl2pPr>
              <a:buNone/>
              <a:defRPr sz="9921"/>
            </a:lvl2pPr>
            <a:lvl3pPr>
              <a:buNone/>
              <a:defRPr sz="8504"/>
            </a:lvl3pPr>
            <a:lvl4pPr>
              <a:buNone/>
              <a:defRPr sz="7086"/>
            </a:lvl4pPr>
            <a:lvl5pPr>
              <a:buNone/>
              <a:defRPr sz="7086"/>
            </a:lvl5pPr>
            <a:lvl6pPr>
              <a:buNone/>
              <a:defRPr sz="7086"/>
            </a:lvl6pPr>
            <a:lvl7pPr>
              <a:buNone/>
              <a:defRPr sz="7086"/>
            </a:lvl7pPr>
            <a:lvl8pPr>
              <a:buNone/>
              <a:defRPr sz="7086"/>
            </a:lvl8pPr>
            <a:lvl9pPr>
              <a:buNone/>
              <a:defRPr sz="7086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5A19B4-B717-4A51-B539-5A136EC9E8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231671" y="12960191"/>
            <a:ext cx="10449614" cy="2401035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0B6AD3D-1A90-41E5-81D6-F04A1A1790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A2F6CC3-11C7-410B-AC4B-5421C3519A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3A73CF6-7C91-40F5-A60C-EB1A1222D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818FDB-0D9B-4C52-B2A9-CC9A870E1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31671" y="2880042"/>
            <a:ext cx="10449614" cy="10080149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1338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53B64D6-7E4C-4AC3-BAAF-5ABFC310858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3773917" y="6220102"/>
            <a:ext cx="16402140" cy="30700453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 xmlns:a="http://schemas.openxmlformats.org/drawingml/2006/main">
            <a:r>
              <a:t>그림을 추가하려면 아이콘을 클릭하십시오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E3C3A25-A5B6-4AD0-A842-A9C6A0DB74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231671" y="12960191"/>
            <a:ext cx="10449614" cy="2401035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596F6D5-E22C-4557-B692-E82345C4F8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BB1F67B-25AA-490D-A077-50102BD45F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2F6AAC8-0AF5-4DFE-BB1B-3B35B72B1B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433A9A-5FEC-45B1-824A-B141B57FC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81472F-A05C-442F-89BB-19CB64586E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AED4E7-03DF-4D79-A9C9-7FF33D6FDF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39F854-2ED0-4E3F-8686-D3C6C90D0E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9A43E6-2BAF-4B03-9DD0-33F2558B96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304DD65-E6A7-4AE1-900B-6C7BD6C79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85742" y="2300034"/>
            <a:ext cx="6986096" cy="366105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ED799A0-E637-47CE-BB46-E16D696E3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27453" y="2300034"/>
            <a:ext cx="20553298" cy="366105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3000D9-52BF-44DF-BCE5-C194974499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A81D56-684B-4DD0-A7C8-D4282511ED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06E6FB-270E-4828-9C79-D3F0D24984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hf sldNum="0" hdr="0" ftr="0" dt="0"/>
</p:sldLayout>
</file>

<file path=ppt/slideLayouts/slideLayout1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7e2e7b13d24b24" /><Relationship Type="http://schemas.openxmlformats.org/officeDocument/2006/relationships/slideLayout" Target="/ppt/slideLayouts/slideLayout1.xml" Id="R0b1f4088616c4d8d" /><Relationship Type="http://schemas.openxmlformats.org/officeDocument/2006/relationships/slideLayout" Target="/ppt/slideLayouts/slideLayout2.xml" Id="Rf7a526a4bc3f4ebc" /><Relationship Type="http://schemas.openxmlformats.org/officeDocument/2006/relationships/slideLayout" Target="/ppt/slideLayouts/slideLayout3.xml" Id="R51d44635a87a43ac" /><Relationship Type="http://schemas.openxmlformats.org/officeDocument/2006/relationships/slideLayout" Target="/ppt/slideLayouts/slideLayout4.xml" Id="R24bfba9705e1401b" /><Relationship Type="http://schemas.openxmlformats.org/officeDocument/2006/relationships/slideLayout" Target="/ppt/slideLayouts/slideLayout5.xml" Id="R7906c471a7664891" /><Relationship Type="http://schemas.openxmlformats.org/officeDocument/2006/relationships/slideLayout" Target="/ppt/slideLayouts/slideLayout6.xml" Id="R82896ce1c43b4e21" /><Relationship Type="http://schemas.openxmlformats.org/officeDocument/2006/relationships/slideLayout" Target="/ppt/slideLayouts/slideLayout7.xml" Id="Rc4338aa6b9994e5e" /><Relationship Type="http://schemas.openxmlformats.org/officeDocument/2006/relationships/slideLayout" Target="/ppt/slideLayouts/slideLayout8.xml" Id="Ra69dd98cecdf4a8f" /><Relationship Type="http://schemas.openxmlformats.org/officeDocument/2006/relationships/slideLayout" Target="/ppt/slideLayouts/slideLayout9.xml" Id="Rb6a899212b8b4165" /><Relationship Type="http://schemas.openxmlformats.org/officeDocument/2006/relationships/slideLayout" Target="/ppt/slideLayouts/slideLayout10.xml" Id="Rf32cdd477a21416a" /><Relationship Type="http://schemas.openxmlformats.org/officeDocument/2006/relationships/slideLayout" Target="/ppt/slideLayouts/slideLayout11.xml" Id="R93e23bbcc2e44a34" /><Relationship Type="http://schemas.openxmlformats.org/officeDocument/2006/relationships/slideLayout" Target="/ppt/slideLayouts/slideLayout12.xml" Id="R181c81f7f4b34dc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6A0B66A-2C31-4796-9D7D-ACAF221BE0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27451" y="2300044"/>
            <a:ext cx="27944386" cy="83501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35DE4D-B210-480F-8662-AB977B823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27451" y="11500170"/>
            <a:ext cx="27944386" cy="27410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74B7C4-4E27-436F-84A3-E33FD1009A2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227451" y="40040601"/>
            <a:ext cx="7289840" cy="2300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764DE79-268F-4C1A-8933-263129D2AF90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27500B-3659-4C92-88DB-11841DC19AD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732264" y="40040601"/>
            <a:ext cx="10934760" cy="2300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104B19-94A2-42A1-BF06-BA4987A31C5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2881997" y="40040601"/>
            <a:ext cx="7289840" cy="2300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8F63A3B-78C7-47BE-AE5E-E10140E0464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1f4088616c4d8d"/>
    <p:sldLayoutId xmlns:r="http://schemas.openxmlformats.org/officeDocument/2006/relationships" id="2147483650" r:id="Rf7a526a4bc3f4ebc"/>
    <p:sldLayoutId xmlns:r="http://schemas.openxmlformats.org/officeDocument/2006/relationships" id="2147483651" r:id="R51d44635a87a43ac"/>
    <p:sldLayoutId xmlns:r="http://schemas.openxmlformats.org/officeDocument/2006/relationships" id="2147483652" r:id="R24bfba9705e1401b"/>
    <p:sldLayoutId xmlns:r="http://schemas.openxmlformats.org/officeDocument/2006/relationships" id="2147483653" r:id="R7906c471a7664891"/>
    <p:sldLayoutId xmlns:r="http://schemas.openxmlformats.org/officeDocument/2006/relationships" id="2147483654" r:id="R82896ce1c43b4e21"/>
    <p:sldLayoutId xmlns:r="http://schemas.openxmlformats.org/officeDocument/2006/relationships" id="2147483655" r:id="Rc4338aa6b9994e5e"/>
    <p:sldLayoutId xmlns:r="http://schemas.openxmlformats.org/officeDocument/2006/relationships" id="2147483656" r:id="Ra69dd98cecdf4a8f"/>
    <p:sldLayoutId xmlns:r="http://schemas.openxmlformats.org/officeDocument/2006/relationships" id="2147483657" r:id="Rb6a899212b8b4165"/>
    <p:sldLayoutId xmlns:r="http://schemas.openxmlformats.org/officeDocument/2006/relationships" id="2147483658" r:id="Rf32cdd477a21416a"/>
    <p:sldLayoutId xmlns:r="http://schemas.openxmlformats.org/officeDocument/2006/relationships" id="2147483659" r:id="R93e23bbcc2e44a34"/>
    <p:sldLayoutId xmlns:r="http://schemas.openxmlformats.org/officeDocument/2006/relationships" id="2147483660" r:id="R181c81f7f4b34dc5"/>
  </p:sldLayoutIdLst>
  <p:hf sldNum="0" hdr="0" ftr="0" dt="0"/>
  <p:txStyles>
    <p:titleStyle>
      <a:lvl1pPr xmlns:a="http://schemas.openxmlformats.org/drawingml/2006/main" algn="l" defTabSz="3239902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809976" indent="-809976" algn="l" defTabSz="3239902">
        <a:lnSpc>
          <a:spcPct val="90000"/>
        </a:lnSpc>
        <a:spcBef>
          <a:spcPts val="3543"/>
        </a:spcBef>
        <a:buFont typeface="Arial"/>
        <a:buChar char="•"/>
        <a:defRPr sz="992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429927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850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4049878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7086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669829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289780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8909731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529682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2149633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3769584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619951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239902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4859853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6479804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8099755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9719706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339657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2959608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6fbe1a7feda4ece" /><Relationship Type="http://schemas.openxmlformats.org/officeDocument/2006/relationships/image" Target="/ppt/media/image.png" Id="Re8a9c223debd4d05" /><Relationship Type="http://schemas.openxmlformats.org/officeDocument/2006/relationships/image" Target="/ppt/media/image2.png" Id="R980cc549a7c24455" /><Relationship Type="http://schemas.openxmlformats.org/officeDocument/2006/relationships/image" Target="/ppt/media/image.jpeg" Id="Rcdbc685615974626" /><Relationship Type="http://schemas.openxmlformats.org/officeDocument/2006/relationships/image" Target="/ppt/media/image2.jpeg" Id="R8e556a43badb4bac" /><Relationship Type="http://schemas.openxmlformats.org/officeDocument/2006/relationships/notesSlide" Target="/ppt/notesSlides/notesSlide1.xml" Id="R2aa17b5dcc904f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88008D8-F22A-4514-B7BC-E83D69D9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1522"/>
            <a:ext cx="32399287" cy="7654059"/>
          </a:xfrm>
          <a:custGeom xmlns:a="http://schemas.openxmlformats.org/drawingml/2006/main">
            <a:rect l="l" t="t" r="r" b="b"/>
            <a:pathLst>
              <a:path w="30276000" h="8426820">
                <a:moveTo>
                  <a:pt x="0" y="0"/>
                </a:moveTo>
                <a:lnTo>
                  <a:pt x="30276000" y="0"/>
                </a:lnTo>
                <a:lnTo>
                  <a:pt x="30276000" y="7266240"/>
                </a:lnTo>
                <a:lnTo>
                  <a:pt x="0" y="8426820"/>
                </a:lnTo>
                <a:close/>
              </a:path>
            </a:pathLst>
          </a:custGeom>
          <a:solidFill xmlns:a="http://schemas.openxmlformats.org/drawingml/2006/main">
            <a:srgbClr val="DDD421"/>
          </a:solidFill>
          <a:ln xmlns:a="http://schemas.openxmlformats.org/drawingml/2006/main" w="12700">
            <a:solidFill>
              <a:srgbClr val="DDD4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696B291-B82F-4C00-A43A-FCB1EF40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281522"/>
            <a:ext cx="32399287" cy="7333229"/>
          </a:xfrm>
          <a:custGeom xmlns:a="http://schemas.openxmlformats.org/drawingml/2006/main">
            <a:rect l="l" t="t" r="r" b="b"/>
            <a:pathLst>
              <a:path w="30276000" h="8073600">
                <a:moveTo>
                  <a:pt x="0" y="0"/>
                </a:moveTo>
                <a:lnTo>
                  <a:pt x="30276000" y="0"/>
                </a:lnTo>
                <a:lnTo>
                  <a:pt x="30276000" y="6913020"/>
                </a:lnTo>
                <a:lnTo>
                  <a:pt x="0" y="8073600"/>
                </a:lnTo>
                <a:close/>
              </a:path>
            </a:pathLst>
          </a:custGeom>
          <a:solidFill xmlns:a="http://schemas.openxmlformats.org/drawingml/2006/main">
            <a:srgbClr val="004D42"/>
          </a:solidFill>
          <a:ln xmlns:a="http://schemas.openxmlformats.org/drawingml/2006/main" w="12700">
            <a:solidFill>
              <a:srgbClr val="004D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C636968-4A47-4ED8-B5CC-97F6107C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36114" y="-281522"/>
            <a:ext cx="6458258" cy="6762613"/>
          </a:xfrm>
          <a:custGeom xmlns:a="http://schemas.openxmlformats.org/drawingml/2006/main">
            <a:rect l="l" t="t" r="r" b="b"/>
            <a:pathLst>
              <a:path w="6035016" h="7445373">
                <a:moveTo>
                  <a:pt x="3007416" y="0"/>
                </a:moveTo>
                <a:lnTo>
                  <a:pt x="6035016" y="0"/>
                </a:lnTo>
                <a:lnTo>
                  <a:pt x="3075537" y="7326792"/>
                </a:lnTo>
                <a:lnTo>
                  <a:pt x="0" y="7445373"/>
                </a:lnTo>
                <a:close/>
              </a:path>
            </a:pathLst>
          </a:custGeom>
          <a:solidFill xmlns:a="http://schemas.openxmlformats.org/drawingml/2006/main">
            <a:srgbClr val="006A5B"/>
          </a:solidFill>
          <a:ln xmlns:a="http://schemas.openxmlformats.org/drawingml/2006/main" w="12700">
            <a:solidFill>
              <a:srgbClr val="006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CD8668B-9A3B-4AC9-B7B5-69A12A6A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648124" y="-281522"/>
            <a:ext cx="4128209" cy="6629698"/>
          </a:xfrm>
          <a:custGeom xmlns:a="http://schemas.openxmlformats.org/drawingml/2006/main">
            <a:rect l="l" t="t" r="r" b="b"/>
            <a:pathLst>
              <a:path w="3857667" h="7299039">
                <a:moveTo>
                  <a:pt x="2949387" y="0"/>
                </a:moveTo>
                <a:lnTo>
                  <a:pt x="3857667" y="0"/>
                </a:lnTo>
                <a:lnTo>
                  <a:pt x="923418" y="7263717"/>
                </a:lnTo>
                <a:lnTo>
                  <a:pt x="0" y="7299039"/>
                </a:lnTo>
                <a:close/>
              </a:path>
            </a:pathLst>
          </a:custGeom>
          <a:solidFill xmlns:a="http://schemas.openxmlformats.org/drawingml/2006/main">
            <a:srgbClr val="439142"/>
          </a:solidFill>
          <a:ln xmlns:a="http://schemas.openxmlformats.org/drawingml/2006/main" w="12700">
            <a:solidFill>
              <a:srgbClr val="4391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AC2620A-2CEB-44AC-BC73-804B6F55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3259" y="920634"/>
            <a:ext cx="5092786" cy="1171340"/>
          </a:xfrm>
          <a:custGeom xmlns:a="http://schemas.openxmlformats.org/drawingml/2006/main">
            <a:rect l="l" t="t" r="r" b="b"/>
            <a:pathLst>
              <a:path w="5046000" h="1160580">
                <a:moveTo>
                  <a:pt x="0" y="0"/>
                </a:moveTo>
                <a:lnTo>
                  <a:pt x="5046000" y="0"/>
                </a:lnTo>
                <a:lnTo>
                  <a:pt x="4692780" y="1160580"/>
                </a:lnTo>
                <a:lnTo>
                  <a:pt x="0" y="1160580"/>
                </a:lnTo>
                <a:close/>
              </a:path>
            </a:pathLst>
          </a:custGeom>
          <a:solidFill xmlns:a="http://schemas.openxmlformats.org/drawingml/2006/main">
            <a:srgbClr val="DDD421"/>
          </a:solidFill>
          <a:ln xmlns:a="http://schemas.openxmlformats.org/drawingml/2006/main" w="12700">
            <a:solidFill>
              <a:srgbClr val="DDD4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462EB1F-1F38-4106-BC3B-2F7E8002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3465" y="950405"/>
            <a:ext cx="4328868" cy="1171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53F36"/>
                </a:solidFill>
                <a:latin typeface="맑은 고딕"/>
                <a:ea typeface="맑은 고딕"/>
                <a:cs typeface="맑은 고딕"/>
              </a:defRPr>
            </a:pPr>
            <a:r>
              <a:rPr sz="4500" b="1">
                <a:solidFill>
                  <a:srgbClr val="053F36"/>
                </a:solidFill>
                <a:latin typeface="맑은 고딕"/>
                <a:ea typeface="맑은 고딕"/>
                <a:cs typeface="맑은 고딕"/>
              </a:rPr>
              <a:t>팀명: ______</a:t>
            </a:r>
            <a:endParaRPr sz="54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88E08AC-6595-4D95-9E0E-030D51A9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259" y="2329387"/>
            <a:ext cx="27704758" cy="24445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0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Speech Hero | 두두의 말소리 모험</a:t>
            </a:r>
            <a:endParaRPr sz="12112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A924624-99AF-4CFF-831A-FCA6D666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259" y="4655835"/>
            <a:ext cx="27704758" cy="1120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47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지도교수  ______        전공  ______        제작자  ______</a:t>
            </a:r>
            <a:endParaRPr sz="4037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6E9D43E-63B2-4033-B027-0417895D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323" y="7943154"/>
            <a:ext cx="29685980" cy="5800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5DD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6289063-9A1D-496A-9A0C-591F11E9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323" y="7946249"/>
            <a:ext cx="9082316" cy="1278483"/>
          </a:xfrm>
          <a:custGeom xmlns:a="http://schemas.openxmlformats.org/drawingml/2006/main">
            <a:rect l="l" t="t" r="r" b="b"/>
            <a:pathLst>
              <a:path w="8073600" h="1059660">
                <a:moveTo>
                  <a:pt x="0" y="0"/>
                </a:moveTo>
                <a:lnTo>
                  <a:pt x="8073600" y="0"/>
                </a:lnTo>
                <a:lnTo>
                  <a:pt x="7669920" y="1059660"/>
                </a:lnTo>
                <a:lnTo>
                  <a:pt x="0" y="1059660"/>
                </a:lnTo>
                <a:close/>
              </a:path>
            </a:pathLst>
          </a:custGeom>
          <a:solidFill xmlns:a="http://schemas.openxmlformats.org/drawingml/2006/main">
            <a:srgbClr val="00816F"/>
          </a:solidFill>
          <a:ln xmlns:a="http://schemas.openxmlformats.org/drawingml/2006/main" w="12700">
            <a:solidFill>
              <a:srgbClr val="0081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019C50B-7D8B-4DB8-BDFC-C7E10138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2779" y="7946249"/>
            <a:ext cx="8117319" cy="12784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4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작품 요약     문제와 해결</a:t>
            </a:r>
            <a:endParaRPr sz="4845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90CFC35-2FD6-409D-829B-5371491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731" y="9703470"/>
            <a:ext cx="28267164" cy="3513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90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90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게임에서 연습한 발음이 치료사의 다음 판단과 이어지도록 설계했다.</a:t>
            </a:r>
            <a:endParaRPr sz="5047"/>
          </a:p>
          <a:p xmlns:a="http://schemas.openxmlformats.org/drawingml/2006/main">
            <a:pPr>
              <a:lnSpc>
                <a:spcPct val="150000"/>
              </a:lnSpc>
              <a:buNone/>
              <a:defRPr sz="390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90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아이는 목표 소리를 모험 행동과 재료·제작 단어로 사용하고, 발화 맥락은 치료사 화면에 남는다.</a:t>
            </a:r>
            <a:endParaRPr sz="5047"/>
          </a:p>
          <a:p xmlns:a="http://schemas.openxmlformats.org/drawingml/2006/main">
            <a:pPr>
              <a:lnSpc>
                <a:spcPct val="150000"/>
              </a:lnSpc>
              <a:buNone/>
              <a:defRPr sz="390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90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서버는 자료를 계산하고 AI는 선택적으로 설명한다. 목표·단서·스킬의 최종 결정은 언어재활사가 한다.</a:t>
            </a:r>
            <a:endParaRPr sz="5047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ABBDA36-ED0C-4BEE-A2DA-D481139C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323" y="14293807"/>
            <a:ext cx="14542856" cy="8148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5DD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9203F065-A1B4-4D01-950E-64BD9FB1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5226" y="14293806"/>
            <a:ext cx="7414376" cy="1278483"/>
          </a:xfrm>
          <a:custGeom xmlns:a="http://schemas.openxmlformats.org/drawingml/2006/main">
            <a:rect l="l" t="t" r="r" b="b"/>
            <a:pathLst>
              <a:path w="6307500" h="1059660">
                <a:moveTo>
                  <a:pt x="0" y="0"/>
                </a:moveTo>
                <a:lnTo>
                  <a:pt x="6307500" y="0"/>
                </a:lnTo>
                <a:lnTo>
                  <a:pt x="5903820" y="1059660"/>
                </a:lnTo>
                <a:lnTo>
                  <a:pt x="0" y="1059660"/>
                </a:lnTo>
                <a:close/>
              </a:path>
            </a:pathLst>
          </a:custGeom>
          <a:solidFill xmlns:a="http://schemas.openxmlformats.org/drawingml/2006/main">
            <a:srgbClr val="00816F"/>
          </a:solidFill>
          <a:ln xmlns:a="http://schemas.openxmlformats.org/drawingml/2006/main" w="12700">
            <a:solidFill>
              <a:srgbClr val="0081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195A5FC-A7D5-4D12-ACB3-561769A1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5493" y="14308455"/>
            <a:ext cx="6406020" cy="12784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4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  치료·게임 흐름</a:t>
            </a:r>
            <a:endParaRPr sz="4845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DAFE2F2-DBC3-4428-B3FB-0D75761C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3160" y="15988325"/>
            <a:ext cx="13233182" cy="60412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75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치료사: 목표음·위치·단서·단어를 확정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75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아동: 4개 활동(각 5라운드)에서 소리→대화 확장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75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소풍 이야기: 목표 단어로 재료를 찾고 물건 제작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75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재료는 다회기 누적, 짧은 회기는 중간 저장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75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기본 공격은 항상 가능, 새 스킬은 치료사 승인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75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연습 게임 Magic Beam과 전투 스킬은 별도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42504020-3E3F-4E8C-9990-F974531D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323" y="23025439"/>
            <a:ext cx="14542856" cy="8963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5DD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15991960-3FB2-4655-B8E3-4CEA05CA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323" y="23025438"/>
            <a:ext cx="6524652" cy="1278483"/>
          </a:xfrm>
          <a:custGeom xmlns:a="http://schemas.openxmlformats.org/drawingml/2006/main">
            <a:rect l="l" t="t" r="r" b="b"/>
            <a:pathLst>
              <a:path w="5550600" h="1059660">
                <a:moveTo>
                  <a:pt x="0" y="0"/>
                </a:moveTo>
                <a:lnTo>
                  <a:pt x="5550600" y="0"/>
                </a:lnTo>
                <a:lnTo>
                  <a:pt x="5146920" y="1059660"/>
                </a:lnTo>
                <a:lnTo>
                  <a:pt x="0" y="1059660"/>
                </a:lnTo>
                <a:close/>
              </a:path>
            </a:pathLst>
          </a:custGeom>
          <a:solidFill xmlns:a="http://schemas.openxmlformats.org/drawingml/2006/main">
            <a:srgbClr val="00816F"/>
          </a:solidFill>
          <a:ln xmlns:a="http://schemas.openxmlformats.org/drawingml/2006/main" w="12700">
            <a:solidFill>
              <a:srgbClr val="0081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715C1217-97F2-4D5D-866E-1C5C2968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8592" y="23055209"/>
            <a:ext cx="5516296" cy="12784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44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  게임·치료 설계</a:t>
            </a:r>
            <a:endParaRPr sz="4845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AEE0BA44-C1BF-49E7-9502-47DD3E07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3160" y="24734428"/>
            <a:ext cx="13233182" cy="68065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525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525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소리·음절·단어·대화는 서로 다른 관찰 기회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525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525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사과 찾기→간식 만들기처럼 발화와 사건 연결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525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525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모방·독립 명명·요청·회상을 구분해 기록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525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525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두두는 천천히 안내하고 아이 발화 중 기다림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525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525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불확실·무발화는 실패로 계산하지 않음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525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525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집·치료실에서 같은 목표를 이어 가는 구조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3AC194CE-C67D-4EC0-A0FD-75DBA487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40800" y="23025439"/>
            <a:ext cx="14542856" cy="8963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5DD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7184923D-9B16-4206-AD23-4DBAD4B1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40800" y="23025438"/>
            <a:ext cx="7006288" cy="1278483"/>
          </a:xfrm>
          <a:custGeom xmlns:a="http://schemas.openxmlformats.org/drawingml/2006/main">
            <a:rect l="l" t="t" r="r" b="b"/>
            <a:pathLst>
              <a:path w="6307500" h="1059660">
                <a:moveTo>
                  <a:pt x="0" y="0"/>
                </a:moveTo>
                <a:lnTo>
                  <a:pt x="6307500" y="0"/>
                </a:lnTo>
                <a:lnTo>
                  <a:pt x="5903820" y="1059660"/>
                </a:lnTo>
                <a:lnTo>
                  <a:pt x="0" y="1059660"/>
                </a:lnTo>
                <a:close/>
              </a:path>
            </a:pathLst>
          </a:custGeom>
          <a:solidFill xmlns:a="http://schemas.openxmlformats.org/drawingml/2006/main">
            <a:srgbClr val="00816F"/>
          </a:solidFill>
          <a:ln xmlns:a="http://schemas.openxmlformats.org/drawingml/2006/main" w="12700">
            <a:solidFill>
              <a:srgbClr val="0081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1A4E6DD3-F4B6-41E5-AA33-5D51E5D2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08028" y="23025438"/>
            <a:ext cx="6053432" cy="12784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44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  실제 화면</a:t>
            </a:r>
            <a:endParaRPr sz="4845"/>
          </a:p>
        </p:txBody>
      </p:sp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8342B8D9-0999-4952-B074-B14723D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323" y="32561959"/>
            <a:ext cx="29685980" cy="7741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5DD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D19B871F-65B8-4A39-936B-A631F3FC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5226" y="32561958"/>
            <a:ext cx="6524649" cy="1278483"/>
          </a:xfrm>
          <a:custGeom xmlns:a="http://schemas.openxmlformats.org/drawingml/2006/main">
            <a:rect l="l" t="t" r="r" b="b"/>
            <a:pathLst>
              <a:path w="5802900" h="1059660">
                <a:moveTo>
                  <a:pt x="0" y="0"/>
                </a:moveTo>
                <a:lnTo>
                  <a:pt x="5802900" y="0"/>
                </a:lnTo>
                <a:lnTo>
                  <a:pt x="5399220" y="1059660"/>
                </a:lnTo>
                <a:lnTo>
                  <a:pt x="0" y="1059660"/>
                </a:lnTo>
                <a:close/>
              </a:path>
            </a:pathLst>
          </a:custGeom>
          <a:solidFill xmlns:a="http://schemas.openxmlformats.org/drawingml/2006/main">
            <a:srgbClr val="00816F"/>
          </a:solidFill>
          <a:ln xmlns:a="http://schemas.openxmlformats.org/drawingml/2006/main" w="12700">
            <a:solidFill>
              <a:srgbClr val="0081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43" name="Text 38">
            <a:extLst xmlns:a="http://schemas.openxmlformats.org/drawingml/2006/main">
              <a:ext uri="{FF2B5EF4-FFF2-40B4-BE49-F238E27FC236}">
                <a16:creationId xmlns:a16="http://schemas.microsoft.com/office/drawing/2014/main" id="{1BF9A1F5-E0B0-4C04-8081-BF6E8A49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9394" y="32591729"/>
            <a:ext cx="5560136" cy="12784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44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  기대효과</a:t>
            </a:r>
            <a:endParaRPr sz="4845"/>
          </a:p>
        </p:txBody>
      </p:sp>
      <p:sp>
        <p:nvSpPr>
          <p:cNvPr id="44" name="Text 39">
            <a:extLst xmlns:a="http://schemas.openxmlformats.org/drawingml/2006/main">
              <a:ext uri="{FF2B5EF4-FFF2-40B4-BE49-F238E27FC236}">
                <a16:creationId xmlns:a16="http://schemas.microsoft.com/office/drawing/2014/main" id="{5F40940C-A17E-43DD-94F2-405C3178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732" y="34348948"/>
            <a:ext cx="28267162" cy="53708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825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825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아동 참여(기대) | 발음이 모험·재료·두두 돌보기의 의미 있는 행동이 된다.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825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825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치료사 지원 | 정오와 단서·독립성·불확실성을 함께 보고 다음 회기를 고른다.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825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825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현재 증거 | 4개 활동과 치료사 계획이 실행됨. 실제 발음 정확도·효과는 미검증.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825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825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다음 검증 | 실제 마이크, 전문가 아동 음성 라벨, 치료실·가정 사용성 평가.</a:t>
            </a:r>
            <a:endParaRPr sz="4441"/>
          </a:p>
        </p:txBody>
      </p:sp>
      <p:sp>
        <p:nvSpPr>
          <p:cNvPr id="45" name="Shape 40">
            <a:extLst xmlns:a="http://schemas.openxmlformats.org/drawingml/2006/main">
              <a:ext uri="{FF2B5EF4-FFF2-40B4-BE49-F238E27FC236}">
                <a16:creationId xmlns:a16="http://schemas.microsoft.com/office/drawing/2014/main" id="{0429D7F4-FF1F-44A5-9170-BE2FEE06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" y="41061908"/>
            <a:ext cx="32398492" cy="2138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2"/>
          </a:solidFill>
          <a:ln xmlns:a="http://schemas.openxmlformats.org/drawingml/2006/main" w="12700">
            <a:solidFill>
              <a:srgbClr val="004D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46" name="Shape 41">
            <a:extLst xmlns:a="http://schemas.openxmlformats.org/drawingml/2006/main">
              <a:ext uri="{FF2B5EF4-FFF2-40B4-BE49-F238E27FC236}">
                <a16:creationId xmlns:a16="http://schemas.microsoft.com/office/drawing/2014/main" id="{3AC0B5A6-72BA-429E-BE23-19DB12FA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" y="41061908"/>
            <a:ext cx="4136076" cy="2138970"/>
          </a:xfrm>
          <a:custGeom xmlns:a="http://schemas.openxmlformats.org/drawingml/2006/main">
            <a:rect l="l" t="t" r="r" b="b"/>
            <a:pathLst>
              <a:path w="3784500" h="2119320">
                <a:moveTo>
                  <a:pt x="0" y="0"/>
                </a:moveTo>
                <a:lnTo>
                  <a:pt x="3784500" y="0"/>
                </a:lnTo>
                <a:lnTo>
                  <a:pt x="2926680" y="2119320"/>
                </a:lnTo>
                <a:lnTo>
                  <a:pt x="0" y="2119320"/>
                </a:lnTo>
                <a:close/>
              </a:path>
            </a:pathLst>
          </a:custGeom>
          <a:solidFill xmlns:a="http://schemas.openxmlformats.org/drawingml/2006/main">
            <a:srgbClr val="DDD421"/>
          </a:solidFill>
          <a:ln xmlns:a="http://schemas.openxmlformats.org/drawingml/2006/main" w="12700">
            <a:solidFill>
              <a:srgbClr val="DDD4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pic>
        <p:nvPicPr>
          <p:cNvPr id="9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9c223debd4d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5190" y="41585835"/>
            <a:ext cx="1120413" cy="1120413"/>
          </a:xfrm>
          <a:prstGeom xmlns:a="http://schemas.openxmlformats.org/drawingml/2006/main" prst="rect">
            <a:avLst/>
          </a:prstGeom>
        </p:spPr>
      </p:pic>
      <p:sp>
        <p:nvSpPr>
          <p:cNvPr id="48" name="Text 42">
            <a:extLst xmlns:a="http://schemas.openxmlformats.org/drawingml/2006/main">
              <a:ext uri="{FF2B5EF4-FFF2-40B4-BE49-F238E27FC236}">
                <a16:creationId xmlns:a16="http://schemas.microsoft.com/office/drawing/2014/main" id="{BA414800-E225-4903-A53F-32934775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098" y="41076556"/>
            <a:ext cx="7872067" cy="2138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4441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대구대학교 공학교육혁신센터</a:t>
            </a:r>
            <a:endParaRPr sz="4441"/>
          </a:p>
        </p:txBody>
      </p:sp>
      <p:sp>
        <p:nvSpPr>
          <p:cNvPr id="49" name="Shape 43">
            <a:extLst xmlns:a="http://schemas.openxmlformats.org/drawingml/2006/main">
              <a:ext uri="{FF2B5EF4-FFF2-40B4-BE49-F238E27FC236}">
                <a16:creationId xmlns:a16="http://schemas.microsoft.com/office/drawing/2014/main" id="{0B64C489-228E-482C-B890-26F0B7FA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9320" y="41418403"/>
            <a:ext cx="0" cy="14259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F85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pic>
        <p:nvPicPr>
          <p:cNvPr id="10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9c223debd4d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35242" y="41571186"/>
            <a:ext cx="1120413" cy="1120413"/>
          </a:xfrm>
          <a:prstGeom xmlns:a="http://schemas.openxmlformats.org/drawingml/2006/main" prst="rect">
            <a:avLst/>
          </a:prstGeom>
        </p:spPr>
      </p:pic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B9522F1F-923F-4CC6-8418-1ECFB328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50" y="41061908"/>
            <a:ext cx="6281949" cy="2138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4441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대구대학교 IT·공과대학</a:t>
            </a:r>
            <a:endParaRPr sz="4441"/>
          </a:p>
        </p:txBody>
      </p:sp>
      <p:pic>
        <p:nvPicPr>
          <p:cNvPr id="102" name="그림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cc549a7c24455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541432" y="617564"/>
            <a:ext cx="4690050" cy="4690050"/>
          </a:xfrm>
          <a:prstGeom xmlns:a="http://schemas.openxmlformats.org/drawingml/2006/main" prst="rect">
            <a:avLst/>
          </a:prstGeom>
        </p:spPr>
      </p:pic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003A0C0-05D7-4D60-9A85-D7B33BD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1447" y="14299663"/>
            <a:ext cx="14542856" cy="8148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5DD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D293DED9-9B05-4CE0-87A1-5DA7399E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59339" y="14299662"/>
            <a:ext cx="8897252" cy="1278483"/>
          </a:xfrm>
          <a:custGeom xmlns:a="http://schemas.openxmlformats.org/drawingml/2006/main">
            <a:rect l="l" t="t" r="r" b="b"/>
            <a:pathLst>
              <a:path w="7569000" h="1059660">
                <a:moveTo>
                  <a:pt x="0" y="0"/>
                </a:moveTo>
                <a:lnTo>
                  <a:pt x="7569000" y="0"/>
                </a:lnTo>
                <a:lnTo>
                  <a:pt x="7165320" y="1059660"/>
                </a:lnTo>
                <a:lnTo>
                  <a:pt x="0" y="1059660"/>
                </a:lnTo>
                <a:close/>
              </a:path>
            </a:pathLst>
          </a:custGeom>
          <a:solidFill xmlns:a="http://schemas.openxmlformats.org/drawingml/2006/main">
            <a:srgbClr val="00816F"/>
          </a:solidFill>
          <a:ln xmlns:a="http://schemas.openxmlformats.org/drawingml/2006/main" w="12700">
            <a:solidFill>
              <a:srgbClr val="0081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79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C26236E-9A68-47BE-BBEE-83DF4259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59606" y="14299662"/>
            <a:ext cx="7888896" cy="12784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44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  AI 기술·안전 하네스</a:t>
            </a:r>
            <a:endParaRPr sz="4845"/>
          </a:p>
        </p:txBody>
      </p:sp>
      <p:sp>
        <p:nvSpPr>
          <p:cNvPr id="8" name="Text 16">
            <a:extLst xmlns:a="http://schemas.openxmlformats.org/drawingml/2006/main">
              <a:ext uri="{FF2B5EF4-FFF2-40B4-BE49-F238E27FC236}">
                <a16:creationId xmlns:a16="http://schemas.microsoft.com/office/drawing/2014/main" id="{0E6E6C7E-2121-C67A-A083-840662BC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16284" y="15994181"/>
            <a:ext cx="13233182" cy="60412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60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Web Audio: 지속·마찰·쉼 등 음향 근거 추정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60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Web Speech: 인식 문장 활용(조음 진단 아님)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60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LangGraph: 검증→계산→제안→요약→검사 분리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60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선택형 LLM: 계산된 근거만 설명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60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안전 하네스: 입력 최소화·형식/금지표현 검사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576815" indent="-576815">
              <a:lnSpc>
                <a:spcPct val="130000"/>
              </a:lnSpc>
              <a:spcAft>
                <a:spcPts val="707"/>
              </a:spcAft>
              <a:buSzPct val="100000"/>
              <a:buFont typeface="Wingdings"/>
              <a:buChar char="§"/>
              <a:defRPr sz="3600">
                <a:solidFill>
                  <a:srgbClr val="15352F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>
                <a:solidFill>
                  <a:srgbClr val="15352F"/>
                </a:solidFill>
                <a:latin typeface="맑은 고딕"/>
                <a:ea typeface="맑은 고딕"/>
                <a:cs typeface="맑은 고딕"/>
              </a:rPr>
              <a:t>오류 시 템플릿 대체, 치료사 승인 전 적용 금지</a:t>
            </a:r>
            <a:endParaRPr sz="4441">
              <a:solidFill>
                <a:srgbClr val="16241C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4FA25C5A-93BB-EB8B-4D09-605D187D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8449" y="24808916"/>
            <a:ext cx="6211880" cy="6588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6CD"/>
            </a:solidFill>
          </a:ln>
        </p:spPr>
        <p:style>
          <a:lnRef xmlns:a="http://schemas.openxmlformats.org/drawingml/2006/main" idx="2">
            <a:schemeClr val="accent3">
              <a:shade val="15000"/>
            </a:schemeClr>
          </a:lnRef>
          <a:fillRef xmlns:a="http://schemas.openxmlformats.org/drawingml/2006/main" idx="1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45">
                <a:solidFill>
                  <a:schemeClr val="tx1"/>
                </a:solidFill>
              </a:rPr>
              <a:t/>
            </a:r>
            <a:endParaRPr sz="4845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009EDF11-0CE5-9B67-C058-D1BB299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9763" y="24808916"/>
            <a:ext cx="6211880" cy="6588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6CD"/>
            </a:solidFill>
          </a:ln>
        </p:spPr>
        <p:style>
          <a:lnRef xmlns:a="http://schemas.openxmlformats.org/drawingml/2006/main" idx="2">
            <a:schemeClr val="accent3">
              <a:shade val="15000"/>
            </a:schemeClr>
          </a:lnRef>
          <a:fillRef xmlns:a="http://schemas.openxmlformats.org/drawingml/2006/main" idx="1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45">
                <a:solidFill>
                  <a:schemeClr val="tx1"/>
                </a:solidFill>
              </a:rPr>
              <a:t/>
            </a:r>
            <a:endParaRPr sz="4845">
              <a:solidFill>
                <a:schemeClr val="tx1"/>
              </a:solidFill>
            </a:endParaRPr>
          </a:p>
        </p:txBody>
      </p:sp>
      <p:sp>
        <p:nvSpPr>
          <p:cNvPr id="61" name="flow-status">
            <a:extLst xmlns:a="http://schemas.openxmlformats.org/drawingml/2006/main">
              <a:ext uri="{FF2B5EF4-FFF2-40B4-BE49-F238E27FC236}">
                <a16:creationId xmlns:a16="http://schemas.microsoft.com/office/drawing/2014/main" id="{1CF3AEC5-5BDB-41B0-B4B1-6F435481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383625"/>
            <a:ext cx="1304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7D6D"/>
                </a:solidFill>
                <a:latin typeface="맑은 고딕"/>
                <a:ea typeface="맑은 고딕"/>
                <a:cs typeface="맑은 고딕"/>
              </a:defRPr>
            </a:pPr>
            <a:r>
              <a:rPr sz="3000" b="1">
                <a:solidFill>
                  <a:srgbClr val="087D6D"/>
                </a:solidFill>
                <a:latin typeface="맑은 고딕"/>
                <a:ea typeface="맑은 고딕"/>
                <a:cs typeface="맑은 고딕"/>
              </a:rPr>
              <a:t>현재: 목표·4종 게임  |  1주 구현 목표: 승인 스킬 1개</a:t>
            </a:r>
          </a:p>
        </p:txBody>
      </p:sp>
      <p:sp>
        <p:nvSpPr>
          <p:cNvPr id="62" name="ai-note">
            <a:extLst xmlns:a="http://schemas.openxmlformats.org/drawingml/2006/main">
              <a:ext uri="{FF2B5EF4-FFF2-40B4-BE49-F238E27FC236}">
                <a16:creationId xmlns:a16="http://schemas.microsoft.com/office/drawing/2014/main" id="{33386A81-9A72-48AD-9E25-5D137841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21431250"/>
            <a:ext cx="1312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D6D"/>
                </a:solidFill>
                <a:latin typeface="맑은 고딕"/>
                <a:ea typeface="맑은 고딕"/>
                <a:cs typeface="맑은 고딕"/>
              </a:defRPr>
            </a:pPr>
            <a:r>
              <a:rPr sz="2925" b="1">
                <a:solidFill>
                  <a:srgbClr val="087D6D"/>
                </a:solidFill>
                <a:latin typeface="맑은 고딕"/>
                <a:ea typeface="맑은 고딕"/>
                <a:cs typeface="맑은 고딕"/>
              </a:rPr>
              <a:t>계획 근거: REAL·치료사 확인 관찰  |  DEMO 제외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c685615974626"/>
          <a:stretch xmlns:a="http://schemas.openxmlformats.org/drawingml/2006/main"/>
        </p:blipFill>
        <p:spPr>
          <a:xfrm xmlns:a="http://schemas.openxmlformats.org/drawingml/2006/main">
            <a:off x="17526000" y="25163580"/>
            <a:ext cx="5791200" cy="5394089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56a43badb4bac"/>
          <a:stretch xmlns:a="http://schemas.openxmlformats.org/drawingml/2006/main"/>
        </p:blipFill>
        <p:spPr>
          <a:xfrm xmlns:a="http://schemas.openxmlformats.org/drawingml/2006/main">
            <a:off x="24279225" y="25384125"/>
            <a:ext cx="5791200" cy="4953000"/>
          </a:xfrm>
          <a:prstGeom xmlns:a="http://schemas.openxmlformats.org/drawingml/2006/main" prst="rect">
            <a:avLst/>
          </a:prstGeom>
        </p:spPr>
      </p:pic>
      <p:sp>
        <p:nvSpPr>
          <p:cNvPr id="65" name="actual-game-caption">
            <a:extLst xmlns:a="http://schemas.openxmlformats.org/drawingml/2006/main">
              <a:ext uri="{FF2B5EF4-FFF2-40B4-BE49-F238E27FC236}">
                <a16:creationId xmlns:a16="http://schemas.microsoft.com/office/drawing/2014/main" id="{97B54ACE-5DB1-4D48-96A1-9D986CBB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950" y="308991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53F36"/>
                </a:solidFill>
                <a:latin typeface="맑은 고딕"/>
                <a:ea typeface="맑은 고딕"/>
                <a:cs typeface="맑은 고딕"/>
              </a:defRPr>
            </a:pPr>
            <a:r>
              <a:rPr sz="3000" b="1">
                <a:solidFill>
                  <a:srgbClr val="053F36"/>
                </a:solidFill>
                <a:latin typeface="맑은 고딕"/>
                <a:ea typeface="맑은 고딕"/>
                <a:cs typeface="맑은 고딕"/>
              </a:rPr>
              <a:t>3D 두두 · 몬스터 1/5 DEMO</a:t>
            </a:r>
          </a:p>
        </p:txBody>
      </p:sp>
      <p:sp>
        <p:nvSpPr>
          <p:cNvPr id="66" name="actual-therapist-caption">
            <a:extLst xmlns:a="http://schemas.openxmlformats.org/drawingml/2006/main">
              <a:ext uri="{FF2B5EF4-FFF2-40B4-BE49-F238E27FC236}">
                <a16:creationId xmlns:a16="http://schemas.microsoft.com/office/drawing/2014/main" id="{2BE2BB8E-37E7-4907-8A55-39C82791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175" y="308991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53F36"/>
                </a:solidFill>
                <a:latin typeface="맑은 고딕"/>
                <a:ea typeface="맑은 고딕"/>
                <a:cs typeface="맑은 고딕"/>
              </a:defRPr>
            </a:pPr>
            <a:r>
              <a:rPr sz="3000" b="1">
                <a:solidFill>
                  <a:srgbClr val="053F36"/>
                </a:solidFill>
                <a:latin typeface="맑은 고딕"/>
                <a:ea typeface="맑은 고딕"/>
                <a:cs typeface="맑은 고딕"/>
              </a:rPr>
              <a:t>치료사 · 검증 근거와 제안</a:t>
            </a:r>
          </a:p>
        </p:txBody>
      </p:sp>
      <p:sp>
        <p:nvSpPr>
          <p:cNvPr id="67" name="poster-evidence-footer">
            <a:extLst xmlns:a="http://schemas.openxmlformats.org/drawingml/2006/main">
              <a:ext uri="{FF2B5EF4-FFF2-40B4-BE49-F238E27FC236}">
                <a16:creationId xmlns:a16="http://schemas.microsoft.com/office/drawing/2014/main" id="{CDD34DA6-6625-48DF-BA83-7CE6B287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376350"/>
            <a:ext cx="2800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4E7169"/>
                </a:solidFill>
                <a:latin typeface="맑은 고딕"/>
                <a:ea typeface="맑은 고딕"/>
                <a:cs typeface="맑은 고딕"/>
              </a:defRPr>
            </a:pPr>
            <a:r>
              <a:rPr sz="3150" b="0">
                <a:solidFill>
                  <a:srgbClr val="4E7169"/>
                </a:solidFill>
                <a:latin typeface="맑은 고딕"/>
                <a:ea typeface="맑은 고딕"/>
                <a:cs typeface="맑은 고딕"/>
              </a:rPr>
              <a:t>검토본: 두두 3D·게임·치료사 실제 DEMO 화면  |  승인 스킬·제작·기기 간 재개는 설계</a:t>
            </a:r>
          </a:p>
        </p:txBody>
      </p:sp>
    </p:spTree>
    <p:extLst>
      <p:ext uri="{BB962C8B-B14F-4D97-AF65-F5344CB8AC3E}">
        <p14:creationId xmlns:p14="http://schemas.microsoft.com/office/powerpoint/2010/main" val="1555564445"/>
      </p:ext>
    </p:extLst>
  </p:cSld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2026-10-02T15:31:39.8780000Z</dcterms:created>
  <dcterms:modified xsi:type="dcterms:W3CDTF">2026-10-02T15:31:39.8780000Z</dcterms:modified>
</coreProperties>
</file>